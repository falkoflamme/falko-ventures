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ARR</c:v>
                </c:pt>
              </c:strCache>
            </c:strRef>
          </c:tx>
          <c:spPr>
            <a:solidFill>
              <a:srgbClr val="B89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Jahr 1</c:v>
                  </c:pt>
                  <c:pt idx="1">
                    <c:v>Jahr 2</c:v>
                  </c:pt>
                  <c:pt idx="2">
                    <c:v>Jahr 3</c:v>
                  </c:pt>
                  <c:pt idx="3">
                    <c:v>Jahr 4</c:v>
                  </c:pt>
                  <c:pt idx="4">
                    <c:v>Jahr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60000</c:v>
                </c:pt>
                <c:pt idx="1">
                  <c:v>420000</c:v>
                </c:pt>
                <c:pt idx="2">
                  <c:v>1800000</c:v>
                </c:pt>
                <c:pt idx="3">
                  <c:v>4500000</c:v>
                </c:pt>
                <c:pt idx="4">
                  <c:v>9000000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Success Fees</c:v>
                </c:pt>
              </c:strCache>
            </c:strRef>
          </c:tx>
          <c:spPr>
            <a:solidFill>
              <a:srgbClr val="1A2E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Jahr 1</c:v>
                  </c:pt>
                  <c:pt idx="1">
                    <c:v>Jahr 2</c:v>
                  </c:pt>
                  <c:pt idx="2">
                    <c:v>Jahr 3</c:v>
                  </c:pt>
                  <c:pt idx="3">
                    <c:v>Jahr 4</c:v>
                  </c:pt>
                  <c:pt idx="4">
                    <c:v>Jahr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20000</c:v>
                </c:pt>
                <c:pt idx="1">
                  <c:v>200000</c:v>
                </c:pt>
                <c:pt idx="2">
                  <c:v>800000</c:v>
                </c:pt>
                <c:pt idx="3">
                  <c:v>2500000</c:v>
                </c:pt>
                <c:pt idx="4">
                  <c:v>5500000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5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1c2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5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A2E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3657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3657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3657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3657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3657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657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3657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3657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2801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12801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2801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2801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2801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2801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2801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2801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21945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21945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1945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1945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21945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21945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21945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21945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1089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31089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1089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1089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31089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31089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31089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31089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40233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6440" y="40233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40233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40233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40233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40233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40233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4023360"/>
            <a:ext cx="36576" cy="36576"/>
          </a:xfrm>
          <a:prstGeom prst="ellipse">
            <a:avLst/>
          </a:prstGeom>
          <a:solidFill>
            <a:srgbClr val="B8973A">
              <a:alpha val="30000"/>
            </a:srgbClr>
          </a:solidFill>
          <a:ln w="12700">
            <a:solidFill>
              <a:srgbClr val="B8973A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502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</a:t>
            </a:r>
            <a:pPr indent="0" marL="0">
              <a:buNone/>
            </a:pPr>
            <a:r>
              <a:rPr lang="en-US" sz="28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Jobber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502920" y="11887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Plattform für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latent wechselbereite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Fachkräfte.</a:t>
            </a:r>
            <a:endParaRPr lang="en-US" sz="3800" dirty="0"/>
          </a:p>
        </p:txBody>
      </p:sp>
      <p:sp>
        <p:nvSpPr>
          <p:cNvPr id="45" name="Text 43"/>
          <p:cNvSpPr/>
          <p:nvPr/>
        </p:nvSpPr>
        <p:spPr>
          <a:xfrm>
            <a:off x="5029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Diskret. Kontrolliert. Überlegen.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02920" y="3749040"/>
            <a:ext cx="4389120" cy="4572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3749040"/>
            <a:ext cx="4389120" cy="36576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8039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Passung  ·  Dann Interesse  ·  Dann Freigabe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|  2026  |  Vertraulich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CHANCE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i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"Die besten Fachkräfte</a:t>
            </a:r>
            <a:endParaRPr lang="en-US" sz="3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600" b="1" i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 nie auf dem Markt."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HiddenJobber macht sie zugänglich — ohne ihre Anonymität zu opfern.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840480"/>
            <a:ext cx="246888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840480"/>
            <a:ext cx="2468880" cy="36576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50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4645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Wechselbereiten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bewerben sich nie aktiv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37560" y="3840480"/>
            <a:ext cx="246888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840480"/>
            <a:ext cx="2468880" cy="36576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950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Mrd€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37560" y="4645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Recruiting-Markt DACH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(jährlich)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97880" y="3840480"/>
            <a:ext cx="2468880" cy="12344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3840480"/>
            <a:ext cx="2468880" cy="36576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950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 Mio.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897880" y="4645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Kandidaten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EU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Wechselbereite Fachkräfte haben keine sichere Option.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82296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27632"/>
            <a:ext cx="54864" cy="6583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73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sichtbar für Kollegen, Chef und Wettbewerb. Wechselwunsch = sofortiger Vertrauensverlust.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82296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32304"/>
            <a:ext cx="54864" cy="6583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78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Jobbörsen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7977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Lebenslauf öffentlich hochladen. Identifizierbar. Kein Schutz. Kein Tempo-Schutz.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82296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36976"/>
            <a:ext cx="54864" cy="6583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82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Headhunter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5844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Opt-in, kein Kontext, kein Schutz. Kontakt ohne Zustimmung. Spam-Niveau.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41648"/>
            <a:ext cx="54864" cy="6583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87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Netzwerke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 ist nicht garantiert. Gerüchte entstehen schnell. Job in Gefahr.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kontrollierter Wechselmarkt mit struktureller Anonymität.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600200"/>
            <a:ext cx="2697480" cy="32461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600200"/>
            <a:ext cx="269748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737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8912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 SICHTBAR WERDEN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53312" y="3090672"/>
            <a:ext cx="685800" cy="2743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3218688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Name. Kein Foto. Kein Arbeitgeber. Nur Kompetenz und Fakten — indexiert für Unternehmen, nicht für Suchmaschinen.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1600200"/>
            <a:ext cx="2697480" cy="32461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1600200"/>
            <a:ext cx="269748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737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64992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QUALIFIZIERTES INTERESSE EMPFANGEN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79392" y="3090672"/>
            <a:ext cx="685800" cy="2743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3218688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 melden sich mit Rolle, Gehalt und Kontext. Kein Recruiter-Spam. Pflichtfelder erzwingen Qualität.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99632" y="1600200"/>
            <a:ext cx="2697480" cy="32461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600200"/>
            <a:ext cx="269748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7373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91072" y="24871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ENTSCHEIDEN WER MEHR ERFÄHRT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05472" y="3090672"/>
            <a:ext cx="685800" cy="2743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3218688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 gibt Freigabe — aktiv, bewusst, jederzeit widerrufbar. Erst dann wird der nächste Layer sichtbar.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PRODUKT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Seiten. Ein System. Klare Rollen.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3337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84048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KANDIDATEN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Anonymes Profil erstellen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Marktwert verstehen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9806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Qualifizierte Anfragen empfangen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Freigabe selbst steuern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1129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Kein Risiko für aktuellen Job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6791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DSGVO — Daten in der EU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22452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Jederzeit vollständig löschbar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508760"/>
            <a:ext cx="3840480" cy="3337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508760"/>
            <a:ext cx="384048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UNTERNEHMEN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08483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Zugang zu passiven Kandidaten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44144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Kein Headhunter-Aufschlag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79806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Strukturierte Kontaktanfragen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15468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Pflichtfelder erzwingen Qualität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511296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Matching nach Rolle &amp; Branche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3867912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Direktkontakt ohne Mittelsmann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4224528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Datenschutz-konform by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5196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DIFFERENTIATOR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Anti-Bias by Design.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Feature — eine Grundentscheidung.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12070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54864" cy="1207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Foto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Aussehen. Nur Kompetenz.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920240"/>
            <a:ext cx="2651760" cy="12070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920240"/>
            <a:ext cx="54864" cy="1207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Name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Herkunftsannahme.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51760" cy="12070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920240"/>
            <a:ext cx="54864" cy="1207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57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Geschlecht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Fakten. Kein Gender-Bias.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2651760" cy="12070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37560"/>
            <a:ext cx="54864" cy="1207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74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Alter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Erfahrung zählt.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337560"/>
            <a:ext cx="2651760" cy="12070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337560"/>
            <a:ext cx="54864" cy="1207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474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Arbeitgeber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3977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Statussignal.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337560"/>
            <a:ext cx="2651760" cy="120700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337560"/>
            <a:ext cx="54864" cy="1207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474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2084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Herkunft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977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Accent Bias.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MARKTGRÖSSE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riesiger, strukturell ungelöster Markt.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389120" cy="3429000"/>
          </a:xfrm>
          <a:prstGeom prst="ellipse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€ 120 Mrd.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57860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Globaler Recruiting-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Talent-Markt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37360" y="2286000"/>
            <a:ext cx="2377440" cy="1828800"/>
          </a:xfrm>
          <a:prstGeom prst="ellipse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€ 15 Mrd.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Recruiting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23160" y="2788920"/>
            <a:ext cx="1005840" cy="822960"/>
          </a:xfrm>
          <a:prstGeom prst="ellipse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8163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423160" y="3017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€ 150M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Marktstruktur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1828800"/>
            <a:ext cx="3291840" cy="8412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828800"/>
            <a:ext cx="54864" cy="84124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901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1901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€ 120 Mrd.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2304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Globaler Executive &amp; Professional Recruiting Markt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2834640"/>
            <a:ext cx="3291840" cy="8412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2834640"/>
            <a:ext cx="54864" cy="84124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907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€ 15 Mrd.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Stellenmarkt, Executive Search, Talent Platform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3840480"/>
            <a:ext cx="3291840" cy="8412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840480"/>
            <a:ext cx="54864" cy="84124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3913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€ 150 Mio.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5-Jahres-Ziel: Premium-Segment DACH + EU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ZIELGRUPPE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Gut bezahlt. Gut beschäftigt. Diskret offen.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965960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1965960" cy="4572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83080"/>
            <a:ext cx="685800" cy="685800"/>
          </a:xfrm>
          <a:prstGeom prst="ellipse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288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Series 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150–200k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096512"/>
            <a:ext cx="804672" cy="237744"/>
          </a:xfrm>
          <a:prstGeom prst="rect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096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463040" y="4096512"/>
            <a:ext cx="804672" cy="237744"/>
          </a:xfrm>
          <a:prstGeom prst="rect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4096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51760" y="1600200"/>
            <a:ext cx="1965960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1600200"/>
            <a:ext cx="1965960" cy="4572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783080"/>
            <a:ext cx="685800" cy="685800"/>
          </a:xfrm>
          <a:prstGeom prst="ellipse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8288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51760" y="2606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65176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51760" y="3291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· 200–500 MA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5176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180–240k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61488" y="4096512"/>
            <a:ext cx="804672" cy="237744"/>
          </a:xfrm>
          <a:prstGeom prst="rect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4096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0" y="4096512"/>
            <a:ext cx="804672" cy="237744"/>
          </a:xfrm>
          <a:prstGeom prst="rect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096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846320" y="1600200"/>
            <a:ext cx="1965960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600200"/>
            <a:ext cx="1965960" cy="4572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1783080"/>
            <a:ext cx="685800" cy="685800"/>
          </a:xfrm>
          <a:prstGeom prst="ellipse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8288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46320" y="2606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4632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291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· 500MA+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56048" y="4096512"/>
            <a:ext cx="804672" cy="237744"/>
          </a:xfrm>
          <a:prstGeom prst="rect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096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Exit-ready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852160" y="4096512"/>
            <a:ext cx="804672" cy="237744"/>
          </a:xfrm>
          <a:prstGeom prst="rect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4096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040880" y="1600200"/>
            <a:ext cx="1965960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0880" y="1600200"/>
            <a:ext cx="1965960" cy="4572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80960" y="1783080"/>
            <a:ext cx="685800" cy="685800"/>
          </a:xfrm>
          <a:prstGeom prst="ellipse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0" y="18288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5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040880" y="2606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040880" y="2880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Data Scientist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40880" y="3291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Remote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04088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100–130k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150608" y="4096512"/>
            <a:ext cx="804672" cy="237744"/>
          </a:xfrm>
          <a:prstGeom prst="rect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4096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046720" y="4096512"/>
            <a:ext cx="804672" cy="237744"/>
          </a:xfrm>
          <a:prstGeom prst="rect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4096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Umsatzquellen. Skalierend. Wiederkehrend.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822960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36192"/>
            <a:ext cx="54864" cy="100584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6093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€ 299 – 999 / Monat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Monatliches Abo für Unternehmen. Zugang zu anonymisierten Kandidaten-Profilen. Filterbar nach Branche, Größe, Funktion, Gehalt.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822960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88336"/>
            <a:ext cx="54864" cy="100584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797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€ 2.000 – 8.000 / Hire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163824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Einmalige Vermittlungspauschale nach erfolgreicher Einstellung. Deutlich unter Headhunter-Niveau von 15–25% Jahresgehalt.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31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KANDIDATEN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€ 0 Freemium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315968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Basiszugang kostenlos. Optionale Premiumfunktionen: erweiterte Marktwert-Analyse, Prioritäts-Sichtbarkeit, Salary-Benchmarking.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Jahr-3-Projektion: 500 Unternehmenskunden × Ø €500/Monat = €3 Mio. ARR  +  800 Hires × Ø €4.000 = €3,2 Mio. → €6+ Mio. ARR kombiniert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JETZT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Kräfte konvergieren. Das Fenster öffnet sich jetzt.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554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02336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Fachkräftemangel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1671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DACH-Markt hat strukturellen Mangel in Tech, Finance, Leadership. Passive Kandidaten sind die einzige ungetappte Reserve.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023360" cy="1554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508760"/>
            <a:ext cx="402336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LinkedIn-Müdigkeit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21671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 melden massenhaft Recruiter-Spam, Kontrollverlust, öffentliche Überbelichtung. Vertrauen sinkt.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023360" cy="1554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402336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383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 als Vorteil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904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EU-Datenschutzanforderungen machen US-Plattformen schwerfällig. EU-first hat strukturellen Compliance-Vorteil.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246120"/>
            <a:ext cx="4023360" cy="1554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246120"/>
            <a:ext cx="402336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383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AI-Matching reif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5192" y="39044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 und anonymisierte Profilbewertung sind heute technisch umsetzbar und skalierbar.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Produkt löst das Problem. Alle umgehen 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Anbieter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1720" y="1508760"/>
            <a:ext cx="1261872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5087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0" y="1508760"/>
            <a:ext cx="1261872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5087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Kandidaten-kontrolle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83480" y="1508760"/>
            <a:ext cx="1261872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087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Recruiter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09360" y="1508760"/>
            <a:ext cx="1261872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087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EU-Daten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635240" y="1508760"/>
            <a:ext cx="1261872" cy="3840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15087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Premium-UX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1938528"/>
            <a:ext cx="8229600" cy="44805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199339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199339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99339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99339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199339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432304"/>
            <a:ext cx="8229600" cy="44805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StepStone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35240" y="248716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2926080"/>
            <a:ext cx="8229600" cy="44805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2980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XING / NuWork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2980944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Teilw.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0" y="2980944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2980944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2980944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35240" y="2980944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3419856"/>
            <a:ext cx="8229600" cy="44805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Headhunter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31720" y="347472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0" y="347472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83480" y="347472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09360" y="347472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35240" y="347472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3913632"/>
            <a:ext cx="8229600" cy="448056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39684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/ Levels.fyi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331720" y="396849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0" y="396849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83480" y="396849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09360" y="396849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635240" y="3968496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57200" y="4407408"/>
            <a:ext cx="8229600" cy="448056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407408"/>
            <a:ext cx="54864" cy="448056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" y="4462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HiddenJobber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331720" y="44622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657600" y="44622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983480" y="44622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309360" y="44622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635240" y="44622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WETTBEWERBSVORTEIL / MOAT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Strukturelle Verteidigung auf 5 Ebenen.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6126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61264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 als Produkt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Anonymität ist nicht das Feature — sie ist das Produkt. Vertrauen akkumuliert sich mit jedem Kandidaten-Match.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8229600" cy="6126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12848"/>
            <a:ext cx="54864" cy="61264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04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304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Netzwerkeffekte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20440" y="23042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qualitative Profile → höhere Attraktivität → höhere Zahlungsbereitschaft → mehr Investitionen → Wachstum.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8229600" cy="6126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16936"/>
            <a:ext cx="54864" cy="61264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083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008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Datenarchitektur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440" y="30083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DSGVO-Architektur, EU-Server und anonymisierte Strukturen als technische Barriere gegen US-Plattformen.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21024"/>
            <a:ext cx="8229600" cy="6126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21024"/>
            <a:ext cx="54864" cy="61264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12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712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Brand-Trust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37124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einmal Kontrolle über seinen Marktwert erlebt hat, wechselt nicht zu einem offenen Profil zurück.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25112"/>
            <a:ext cx="8229600" cy="61264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25112"/>
            <a:ext cx="54864" cy="61264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416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Qualitätssignal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20440" y="4416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Pflichtfelder, Matching-Score, strukturierter Kontext. Unternehmen lernen: HiddenJobber = Signal, andere = Rauschen.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Kandidaten zuerst. Unternehmen folgen.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508760"/>
            <a:ext cx="2743200" cy="3429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508760"/>
            <a:ext cx="274320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Kandidaten-Seite aufbauen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61872" y="2743200"/>
            <a:ext cx="914400" cy="2743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5292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Beta-Invite: 500 kuratierte Fachkräfte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35584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Content: Marktwert-Transparenz-Posts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85876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LinkedIn-Dark-Posts, Fach-Communities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36168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Waitlist mit Exklusivitätssignal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73552" y="1508760"/>
            <a:ext cx="2743200" cy="3429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508760"/>
            <a:ext cx="274320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 onboarden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87952" y="2743200"/>
            <a:ext cx="914400" cy="2743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85292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Direktvertrieb: HR-Leads in SaaS, FinTech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335584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Erster Match als PR-Case-Study nutzen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85876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Pilot-Partnerschaften Series A–C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436168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Success-Fee-Modell schärfen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99632" y="1508760"/>
            <a:ext cx="2743200" cy="34290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1508760"/>
            <a:ext cx="274320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91072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+ EU-Expansion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14032" y="2743200"/>
            <a:ext cx="914400" cy="2743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85292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DACH → NL, Nordics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335584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für ATS-Integration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385876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AI-Matching-Score als Feature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436168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Enterprise-Tier für Konzerne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AKTUELLER STAND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Produkt live. Fundament steht. Nächste Phase bereit.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ERLEDIGT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470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Landing Page live auf hiddenjobber-app.vercel.app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225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Markenidentität: Wording, UX-Richtung, Design-System definiert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980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Tech-Stack: Next.js 14, Supabase (EU), Vercel, Resend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73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DSGVO-Architektur konzipiert (Frankfurt-Server, Privacy-first)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49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Produktprinzip validiert: Erst Passung → Dann Interesse → Dann Freigabe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224528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24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Pitch-Narrative, Bibel, Master-Prompt ausgearbeitet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847088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847088"/>
            <a:ext cx="45720" cy="41148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8470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Auth-System (Kandidaten + Arbeitgeber-Rollen)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322576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322576"/>
            <a:ext cx="45720" cy="41148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3225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Profil-Onboarding (anonym, strukturiert)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798064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798064"/>
            <a:ext cx="45720" cy="41148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980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Arbeitgeber-Dashboard + Anfrage-Flow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273552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273552"/>
            <a:ext cx="45720" cy="41148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735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Freigabe-Mechanismus (Kandidaten-kontrolliert)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749040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749040"/>
            <a:ext cx="45720" cy="41148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749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Beta mit 50–100 Kandidaten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4224528"/>
            <a:ext cx="4023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4224528"/>
            <a:ext cx="45720" cy="41148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224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Erste zahlende Unternehmenskunden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WACHSTUMSPROJEKT 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Konservatives Szenario. Realistisch. Investierbar.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23560" y="1874520"/>
            <a:ext cx="320040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94767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9476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Kunden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69480" y="1947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€ 80K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2441448"/>
            <a:ext cx="3200400" cy="475488"/>
          </a:xfrm>
          <a:prstGeom prst="rect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5146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6364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Kunden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6948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€ 620K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23560" y="3008376"/>
            <a:ext cx="320040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30815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3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63640" y="3081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Kunden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269480" y="3081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€ 2,6 Mio.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23560" y="3575304"/>
            <a:ext cx="3200400" cy="475488"/>
          </a:xfrm>
          <a:prstGeom prst="rect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364845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4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263640" y="36484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Kunden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69480" y="36484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€ 7 Mio.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23560" y="4142232"/>
            <a:ext cx="320040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0" y="42153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5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63640" y="42153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Kunden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269480" y="42153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€ 14,5 Mio.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EXIT-SZENARIEN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realistische Exitpfade. Einer sehr wahrscheinlich.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105156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 AKQUISITION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9110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WAHRSCHEINLICHKEIT: HOCH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0" y="15636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€ 30–150 Mio.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1671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StepStone, XING, Personio, Indeed, LinkedIn brauchen Differenzierung im Premium-Segment. HiddenJobber als Anonymitätsschicht oder Talent-Netzwerk ist hochwertiger Bolt-on-Buy.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0" y="216712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Käufer: New Work SE · StepStone · Indeed · Personio · SAP SF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2679192"/>
            <a:ext cx="8229600" cy="1051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79192"/>
            <a:ext cx="54864" cy="105156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52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770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/ ROLL-UP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34440" y="3081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WAHRSCHEINLICHKEIT: MITTEL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43600" y="2734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€ 20–80 Mio.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3375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PE-Fonds konsolidieren HR-Tech in DACH. Recurring Revenue + geringe Churn = attraktives Multiple von 8–15× ARR.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Käufer: Hg Capital · TA Associates · Visma · EQT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3849624"/>
            <a:ext cx="8229600" cy="105156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49624"/>
            <a:ext cx="54864" cy="105156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3941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CASH COW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42519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WAHRSCHEINLICHKEIT: ALTERNATIV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943600" y="3904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€ 2–5 Mio. ARR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34440" y="45079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Exit nötig. Bei 500+ Unternehmenskunden und stabiler Churn ist HiddenJobber ein profitables Nischenprodukt mit starkem Cashflow.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0" y="45079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Käufer: Kein Investor-Exit erforderlich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HARTEN FRAGEN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stellen sie selbst. Weil wir die Antworten haben.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77724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636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Kann LinkedIn das nicht einfach kopieren?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110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LinkedIn lebt von Öffentlichkeit. Anonymität ist konträr zu ihrem Kernmodell. Anpassung würde ihr Hauptprodukt kannibalisieren.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54864" cy="77724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323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Wie baut ihr die Kandidaten-Seite auf?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797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Invite-Only Beta, Content-Marketing über Marktwert-Transparenz, Community-Seeding in Fach-Netzwerken. Qualität vor Quantität.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77724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009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Was verhindert Kandidaten-Identifizierung?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64845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Technische Architektur: keine Cross-Matching-Daten, pseudonymisierte IDs. Strukturell gesichert, nicht nur vertraglich.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696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 Wie verdient ihr in der Frühphase?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51713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Pilot-Abo mit 3–5 Unternehmen im ersten Jahr. ARR folgt Kandidaten-Qualität, nicht Quantität.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wir suchen.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Wofür wir es einsetzen.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840480" cy="13716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384048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RUNDE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€ 300K – 600K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/ Seed  ·  18 Monate Runway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116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&amp; Technik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22860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Profil-System, Matching, Arbeitgeber-Dashboard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2670048"/>
            <a:ext cx="40233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76148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2743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30358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Kandidaten-Akquise, Content, Community, PR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3419856"/>
            <a:ext cx="40233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51129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3493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Vertrieb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7856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Unternehmenskunden, Pilot-Partnerschaften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4169664"/>
            <a:ext cx="402336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26110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42428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45354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DSGVO-Audit, Impressum, AGB, Datenschutz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Serienunternehmer. Visionär. Executer.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25603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1280160" cy="1280160"/>
          </a:xfrm>
          <a:prstGeom prst="ellipse">
            <a:avLst/>
          </a:prstGeom>
          <a:solidFill>
            <a:srgbClr val="0F1C29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FF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31720" y="16916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Falko Flamme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31720" y="21762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Gründer &amp; CEO · HiddenJobber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57860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Serienunternehmer mit mehreren aktiven Projekten (Graffiti Urban, Zahndrache / Dido)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285292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Vibe Coder — AI-first Entwicklung als strategischer Vorteil in der Build-Phase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312724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Starkes Gespür für Brand, UX und Produktstrategie im Premium-Segment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340156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Fokus auf schnelle Marktvalidierung mit minimalem technischem Ballast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367588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GitHub: falkoflamme  ·  Stack: Next.js, Supabase, Vercel, AI-Tooling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06240"/>
            <a:ext cx="54864" cy="6858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Team-Ausbau mit Investment: Senior Full-Stack Engineer  ·  Growth Lead  ·  Legal/GDPR Advisor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2743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105156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182880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036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2440" y="260604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8036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2376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92440" y="338328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4300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8036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1772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508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2376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92440" y="4160520"/>
            <a:ext cx="36576" cy="36576"/>
          </a:xfrm>
          <a:prstGeom prst="ellipse">
            <a:avLst/>
          </a:prstGeom>
          <a:solidFill>
            <a:srgbClr val="B8973A">
              <a:alpha val="18000"/>
            </a:srgbClr>
          </a:solidFill>
          <a:ln w="12700">
            <a:solidFill>
              <a:srgbClr val="B8973A">
                <a:alpha val="18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640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</a:t>
            </a:r>
            <a:pPr indent="0" marL="0">
              <a:buNone/>
            </a:pPr>
            <a:r>
              <a:rPr lang="en-US" sz="30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Jobber</a:t>
            </a:r>
            <a:endParaRPr lang="en-US" sz="3000" dirty="0"/>
          </a:p>
        </p:txBody>
      </p:sp>
      <p:sp>
        <p:nvSpPr>
          <p:cNvPr id="64" name="Text 62"/>
          <p:cNvSpPr/>
          <p:nvPr/>
        </p:nvSpPr>
        <p:spPr>
          <a:xfrm>
            <a:off x="731520" y="11887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Besten sind nie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 dem Markt.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EF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 schon.</a:t>
            </a:r>
            <a:endParaRPr lang="en-US" sz="3600" dirty="0"/>
          </a:p>
        </p:txBody>
      </p:sp>
      <p:sp>
        <p:nvSpPr>
          <p:cNvPr id="65" name="Shape 63"/>
          <p:cNvSpPr/>
          <p:nvPr/>
        </p:nvSpPr>
        <p:spPr>
          <a:xfrm>
            <a:off x="731520" y="3154680"/>
            <a:ext cx="3657600" cy="36576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Diskret. Kontrolliert. Überlegen.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3152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hiddenjobber-app.vercel.app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3152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flamme.falko@gmail.com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31520" y="46634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  ·  © 2026 HiddenJobber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HiddenJobber — Investor Pitch Deck</dc:title>
  <dc:subject>PptxGenJS Presentation</dc:subject>
  <dc:creator>PptxGenJS</dc:creator>
  <cp:lastModifiedBy>PptxGenJS</cp:lastModifiedBy>
  <cp:revision>1</cp:revision>
  <dcterms:created xsi:type="dcterms:W3CDTF">2026-04-03T13:54:13Z</dcterms:created>
  <dcterms:modified xsi:type="dcterms:W3CDTF">2026-04-03T13:54:13Z</dcterms:modified>
</cp:coreProperties>
</file>